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5" r:id="rId8"/>
    <p:sldId id="266" r:id="rId9"/>
    <p:sldId id="2146847056" r:id="rId10"/>
    <p:sldId id="267" r:id="rId11"/>
    <p:sldId id="2146847057" r:id="rId12"/>
    <p:sldId id="268" r:id="rId13"/>
    <p:sldId id="2146847055"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78" d="100"/>
          <a:sy n="78" d="100"/>
        </p:scale>
        <p:origin x="87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EMPLOYEE SALARY PREDICTION USING MACHINE LEARNING ALGORITHMS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1105108" y="3708570"/>
            <a:ext cx="6332012" cy="2677656"/>
          </a:xfrm>
          <a:prstGeom prst="rect">
            <a:avLst/>
          </a:prstGeom>
          <a:noFill/>
        </p:spPr>
        <p:txBody>
          <a:bodyPr wrap="square" lIns="91440" tIns="45720" rIns="91440" bIns="45720" rtlCol="0" anchor="t">
            <a:spAutoFit/>
          </a:bodyPr>
          <a:lstStyle/>
          <a:p>
            <a:r>
              <a:rPr lang="en-US" sz="2800" b="1" dirty="0">
                <a:solidFill>
                  <a:schemeClr val="bg1"/>
                </a:solidFill>
                <a:latin typeface="Arial" pitchFamily="34" charset="0"/>
                <a:cs typeface="Arial" pitchFamily="34" charset="0"/>
              </a:rPr>
              <a:t>Presented By:</a:t>
            </a:r>
          </a:p>
          <a:p>
            <a:r>
              <a:rPr lang="en-US" sz="2800" b="1" dirty="0">
                <a:solidFill>
                  <a:schemeClr val="accent3">
                    <a:lumMod val="40000"/>
                    <a:lumOff val="60000"/>
                  </a:schemeClr>
                </a:solidFill>
                <a:latin typeface="Arial"/>
                <a:cs typeface="Arial"/>
              </a:rPr>
              <a:t>Jagu Manish </a:t>
            </a:r>
          </a:p>
          <a:p>
            <a:r>
              <a:rPr lang="en-US" sz="2800" b="1" dirty="0">
                <a:solidFill>
                  <a:schemeClr val="bg1"/>
                </a:solidFill>
                <a:latin typeface="Arial"/>
                <a:cs typeface="Arial"/>
              </a:rPr>
              <a:t>Civil Engineering Department </a:t>
            </a:r>
          </a:p>
          <a:p>
            <a:r>
              <a:rPr lang="en-US" sz="2800" b="1" dirty="0">
                <a:solidFill>
                  <a:schemeClr val="bg1"/>
                </a:solidFill>
                <a:latin typeface="Arial"/>
                <a:cs typeface="Arial"/>
              </a:rPr>
              <a:t>IIT Bombay</a:t>
            </a:r>
          </a:p>
          <a:p>
            <a:r>
              <a:rPr lang="en-US" sz="2800" b="1" dirty="0" err="1">
                <a:solidFill>
                  <a:schemeClr val="bg1"/>
                </a:solidFill>
                <a:latin typeface="Arial"/>
                <a:cs typeface="Arial"/>
              </a:rPr>
              <a:t>lD</a:t>
            </a:r>
            <a:r>
              <a:rPr lang="en-US" sz="2800" b="1" dirty="0">
                <a:solidFill>
                  <a:schemeClr val="bg1"/>
                </a:solidFill>
                <a:latin typeface="Arial"/>
                <a:cs typeface="Arial"/>
              </a:rPr>
              <a:t>: STU666004a8925781717568680</a:t>
            </a:r>
          </a:p>
          <a:p>
            <a:r>
              <a:rPr lang="en-US" sz="2800" b="1" dirty="0">
                <a:solidFill>
                  <a:schemeClr val="bg1"/>
                </a:solidFill>
                <a:latin typeface="Arial"/>
                <a:cs typeface="Arial"/>
              </a:rPr>
              <a:t>Email: manishjagu730@gmail.com</a:t>
            </a:r>
          </a:p>
        </p:txBody>
      </p:sp>
      <p:sp>
        <p:nvSpPr>
          <p:cNvPr id="5" name="TextBox 4">
            <a:extLst>
              <a:ext uri="{FF2B5EF4-FFF2-40B4-BE49-F238E27FC236}">
                <a16:creationId xmlns:a16="http://schemas.microsoft.com/office/drawing/2014/main" id="{CEF0BD0F-1DFF-DADE-39F8-70178745980F}"/>
              </a:ext>
            </a:extLst>
          </p:cNvPr>
          <p:cNvSpPr txBox="1"/>
          <p:nvPr/>
        </p:nvSpPr>
        <p:spPr>
          <a:xfrm rot="5400000">
            <a:off x="-651598" y="4376329"/>
            <a:ext cx="3149603" cy="646331"/>
          </a:xfrm>
          <a:prstGeom prst="rect">
            <a:avLst/>
          </a:prstGeom>
          <a:noFill/>
        </p:spPr>
        <p:txBody>
          <a:bodyPr wrap="square" rtlCol="0">
            <a:spAutoFit/>
          </a:bodyPr>
          <a:lstStyle/>
          <a:p>
            <a:r>
              <a:rPr lang="en-US" dirty="0">
                <a:solidFill>
                  <a:schemeClr val="bg1"/>
                </a:solidFill>
              </a:rPr>
              <a:t>----------------------------------------------------------------------------------</a:t>
            </a:r>
            <a:endParaRPr lang="en-IN" dirty="0">
              <a:solidFill>
                <a:schemeClr val="bg1"/>
              </a:solidFill>
            </a:endParaRPr>
          </a:p>
        </p:txBody>
      </p:sp>
      <p:sp>
        <p:nvSpPr>
          <p:cNvPr id="6" name="TextBox 5">
            <a:extLst>
              <a:ext uri="{FF2B5EF4-FFF2-40B4-BE49-F238E27FC236}">
                <a16:creationId xmlns:a16="http://schemas.microsoft.com/office/drawing/2014/main" id="{6D8D65C8-E652-EB63-E712-DAB105CB4B05}"/>
              </a:ext>
            </a:extLst>
          </p:cNvPr>
          <p:cNvSpPr txBox="1"/>
          <p:nvPr/>
        </p:nvSpPr>
        <p:spPr>
          <a:xfrm>
            <a:off x="619378" y="3174168"/>
            <a:ext cx="3149603" cy="646331"/>
          </a:xfrm>
          <a:prstGeom prst="rect">
            <a:avLst/>
          </a:prstGeom>
          <a:noFill/>
        </p:spPr>
        <p:txBody>
          <a:bodyPr wrap="square" rtlCol="0">
            <a:spAutoFit/>
          </a:bodyPr>
          <a:lstStyle/>
          <a:p>
            <a:r>
              <a:rPr lang="en-US"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0205720" cy="354234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0" indent="0">
              <a:buNone/>
            </a:pPr>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482520"/>
            <a:ext cx="11029615" cy="4673324"/>
          </a:xfrm>
        </p:spPr>
        <p:txBody>
          <a:bodyPr>
            <a:normAutofit fontScale="92500" lnSpcReduction="20000"/>
          </a:bodyPr>
          <a:lstStyle/>
          <a:p>
            <a:pPr marL="305435" indent="-305435" algn="just"/>
            <a:r>
              <a:rPr lang="en-US" sz="2800" b="1" dirty="0"/>
              <a:t>Predicting employee salaries isn't straightforward — it depends on various factors like skills, experience, and job role.</a:t>
            </a:r>
          </a:p>
          <a:p>
            <a:pPr marL="305435" indent="-305435" algn="just"/>
            <a:r>
              <a:rPr lang="en-US" sz="2800" b="1" dirty="0"/>
              <a:t>Most available tools are either too complex or don’t offer a smooth user experience.</a:t>
            </a:r>
          </a:p>
          <a:p>
            <a:pPr marL="305435" indent="-305435" algn="just"/>
            <a:r>
              <a:rPr lang="en-US" sz="2800" b="1" dirty="0"/>
              <a:t>HR teams and analysts often struggle with model selection, data handling, and making accurate predictions.</a:t>
            </a:r>
          </a:p>
          <a:p>
            <a:pPr marL="305435" indent="-305435" algn="just"/>
            <a:r>
              <a:rPr lang="en-US" sz="2800" b="1" dirty="0"/>
              <a:t>There’s a clear need for a simple, intuitive application that brings everything together.</a:t>
            </a:r>
          </a:p>
          <a:p>
            <a:pPr marL="305435" indent="-305435" algn="just"/>
            <a:r>
              <a:rPr lang="en-US" sz="2800" b="1" dirty="0"/>
              <a:t>This project aims to solve that by building an all-in-one salary prediction tool using machine learning.</a:t>
            </a:r>
          </a:p>
          <a:p>
            <a:pPr marL="305435" indent="-305435" algn="just"/>
            <a:endParaRPr lang="en-IN" sz="2800" b="1"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9" name="Content Placeholder 8">
            <a:extLst>
              <a:ext uri="{FF2B5EF4-FFF2-40B4-BE49-F238E27FC236}">
                <a16:creationId xmlns:a16="http://schemas.microsoft.com/office/drawing/2014/main" id="{AF1B29AB-37B4-0883-3E52-0517D9A2598D}"/>
              </a:ext>
            </a:extLst>
          </p:cNvPr>
          <p:cNvSpPr>
            <a:spLocks noGrp="1"/>
          </p:cNvSpPr>
          <p:nvPr>
            <p:ph idx="1"/>
          </p:nvPr>
        </p:nvSpPr>
        <p:spPr>
          <a:xfrm>
            <a:off x="581192" y="1420504"/>
            <a:ext cx="11029615" cy="4673324"/>
          </a:xfrm>
        </p:spPr>
        <p:txBody>
          <a:bodyPr>
            <a:noAutofit/>
          </a:bodyPr>
          <a:lstStyle/>
          <a:p>
            <a:pPr marL="305435" indent="-305435"/>
            <a:r>
              <a:rPr lang="en-IN" sz="1800" b="1" dirty="0"/>
              <a:t> </a:t>
            </a:r>
            <a:r>
              <a:rPr lang="en-IN" sz="2000" b="1" dirty="0">
                <a:solidFill>
                  <a:srgbClr val="0F0F0F"/>
                </a:solidFill>
              </a:rPr>
              <a:t>System Requirements</a:t>
            </a:r>
          </a:p>
          <a:p>
            <a:pPr lvl="1"/>
            <a:r>
              <a:rPr lang="en-IN" sz="1600" b="1" dirty="0"/>
              <a:t>Platform: </a:t>
            </a:r>
            <a:r>
              <a:rPr lang="en-IN" sz="1600" dirty="0"/>
              <a:t>Windows/Linux/Mac (with Python installed)</a:t>
            </a:r>
          </a:p>
          <a:p>
            <a:pPr lvl="1"/>
            <a:r>
              <a:rPr lang="en-IN" sz="1600" b="1" dirty="0"/>
              <a:t>Python Version: </a:t>
            </a:r>
            <a:r>
              <a:rPr lang="en-IN" sz="1600" dirty="0"/>
              <a:t>3.8 or higher</a:t>
            </a:r>
          </a:p>
          <a:p>
            <a:pPr lvl="1"/>
            <a:r>
              <a:rPr lang="en-IN" sz="1600" b="1" dirty="0"/>
              <a:t>RAM</a:t>
            </a:r>
            <a:r>
              <a:rPr lang="en-IN" sz="1600" dirty="0"/>
              <a:t>: Minimum 4 GB (8 GB recommended for smooth model training)</a:t>
            </a:r>
          </a:p>
          <a:p>
            <a:pPr lvl="1"/>
            <a:r>
              <a:rPr lang="en-IN" sz="1600" b="1" dirty="0"/>
              <a:t>Display: </a:t>
            </a:r>
            <a:r>
              <a:rPr lang="en-IN" sz="1600" dirty="0"/>
              <a:t>1366x768 or higher for full UI visibility</a:t>
            </a:r>
          </a:p>
          <a:p>
            <a:pPr lvl="1"/>
            <a:endParaRPr lang="en-IN" sz="1800" dirty="0"/>
          </a:p>
          <a:p>
            <a:pPr marL="305435" indent="-305435"/>
            <a:r>
              <a:rPr lang="en-IN" sz="1800" b="1" dirty="0"/>
              <a:t> </a:t>
            </a:r>
            <a:r>
              <a:rPr lang="en-IN" sz="2000" b="1" dirty="0"/>
              <a:t>Libraries Used</a:t>
            </a:r>
          </a:p>
          <a:p>
            <a:pPr lvl="1"/>
            <a:r>
              <a:rPr lang="en-IN" sz="1600" b="1" dirty="0"/>
              <a:t>GUI &amp; Styling</a:t>
            </a:r>
            <a:r>
              <a:rPr lang="en-IN" sz="1600" dirty="0"/>
              <a:t>: </a:t>
            </a:r>
            <a:r>
              <a:rPr lang="en-IN" sz="1600" dirty="0" err="1"/>
              <a:t>tkinter</a:t>
            </a:r>
            <a:r>
              <a:rPr lang="en-IN" sz="1600" dirty="0"/>
              <a:t>, </a:t>
            </a:r>
            <a:r>
              <a:rPr lang="en-IN" sz="1600" dirty="0" err="1"/>
              <a:t>ttkbootstrap</a:t>
            </a:r>
            <a:endParaRPr lang="en-IN" sz="1600" dirty="0"/>
          </a:p>
          <a:p>
            <a:pPr lvl="1"/>
            <a:r>
              <a:rPr lang="en-IN" sz="1600" b="1" dirty="0"/>
              <a:t>Data Handling</a:t>
            </a:r>
            <a:r>
              <a:rPr lang="en-IN" sz="1600" dirty="0"/>
              <a:t>: pandas, </a:t>
            </a:r>
            <a:r>
              <a:rPr lang="en-IN" sz="1600" dirty="0" err="1"/>
              <a:t>numpy</a:t>
            </a:r>
            <a:endParaRPr lang="en-IN" sz="1600" dirty="0"/>
          </a:p>
          <a:p>
            <a:pPr lvl="1"/>
            <a:r>
              <a:rPr lang="en-IN" sz="1600" b="1" dirty="0"/>
              <a:t>Visualization: </a:t>
            </a:r>
            <a:r>
              <a:rPr lang="en-IN" sz="1600" dirty="0"/>
              <a:t>matplotlib</a:t>
            </a:r>
          </a:p>
          <a:p>
            <a:pPr lvl="1"/>
            <a:r>
              <a:rPr lang="en-IN" sz="1600" b="1" dirty="0"/>
              <a:t>Machine Learning: </a:t>
            </a:r>
            <a:r>
              <a:rPr lang="en-IN" sz="1600" dirty="0"/>
              <a:t>scikit-learn (for preprocessing, </a:t>
            </a:r>
            <a:r>
              <a:rPr lang="en-IN" sz="1600" dirty="0" err="1"/>
              <a:t>modeling</a:t>
            </a:r>
            <a:r>
              <a:rPr lang="en-IN" sz="1600" dirty="0"/>
              <a:t>, and evaluation)</a:t>
            </a:r>
          </a:p>
          <a:p>
            <a:pPr lvl="1"/>
            <a:r>
              <a:rPr lang="en-IN" sz="1600" b="1" dirty="0"/>
              <a:t>File I/O &amp; Dialogs: </a:t>
            </a:r>
            <a:r>
              <a:rPr lang="en-IN" sz="1600" dirty="0" err="1"/>
              <a:t>tkinter.filedialog</a:t>
            </a:r>
            <a:r>
              <a:rPr lang="en-IN" sz="1600" dirty="0"/>
              <a:t>, </a:t>
            </a:r>
            <a:r>
              <a:rPr lang="en-IN" sz="1600" dirty="0" err="1"/>
              <a:t>tkinter.messagebox</a:t>
            </a:r>
            <a:endParaRPr lang="en-IN" sz="1600" dirty="0"/>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434812"/>
            <a:ext cx="11029615" cy="4673324"/>
          </a:xfrm>
        </p:spPr>
        <p:txBody>
          <a:bodyPr>
            <a:normAutofit fontScale="77500" lnSpcReduction="20000"/>
          </a:bodyPr>
          <a:lstStyle/>
          <a:p>
            <a:pPr marL="305435" indent="-305435"/>
            <a:r>
              <a:rPr lang="en-US" sz="2800" b="1" dirty="0"/>
              <a:t> </a:t>
            </a:r>
            <a:r>
              <a:rPr lang="en-US" sz="2800" b="1" dirty="0">
                <a:solidFill>
                  <a:schemeClr val="accent1"/>
                </a:solidFill>
              </a:rPr>
              <a:t>Overview</a:t>
            </a:r>
          </a:p>
          <a:p>
            <a:pPr marL="629435" lvl="1" indent="-305435"/>
            <a:r>
              <a:rPr lang="en-US" sz="2500" dirty="0"/>
              <a:t>The user can predict salaries using multiple machine learning algorithms at once and compare their accuracy.</a:t>
            </a:r>
          </a:p>
          <a:p>
            <a:pPr marL="629435" lvl="1" indent="-305435"/>
            <a:r>
              <a:rPr lang="en-US" sz="2500" dirty="0"/>
              <a:t>This helps in selecting the most suitable model for reliable predictions — all through a simple desktop interface.</a:t>
            </a:r>
          </a:p>
          <a:p>
            <a:pPr marL="305435" indent="-305435"/>
            <a:endParaRPr lang="en-US" sz="2800" b="1" dirty="0"/>
          </a:p>
          <a:p>
            <a:pPr marL="305435" indent="-305435"/>
            <a:r>
              <a:rPr lang="en-US" sz="2800" b="1" spc="300" dirty="0">
                <a:solidFill>
                  <a:schemeClr val="accent1"/>
                </a:solidFill>
              </a:rPr>
              <a:t>Step-by-Step Procedure</a:t>
            </a:r>
          </a:p>
          <a:p>
            <a:pPr marL="629435" lvl="1" indent="-305435"/>
            <a:r>
              <a:rPr lang="en-US" sz="2500" b="1" dirty="0"/>
              <a:t>Dataset Loading</a:t>
            </a:r>
          </a:p>
          <a:p>
            <a:pPr marL="899435" lvl="2" indent="-305435"/>
            <a:r>
              <a:rPr lang="en-US" sz="2400" dirty="0"/>
              <a:t>User uploads a CSV file containing employee data via the GUI.</a:t>
            </a:r>
          </a:p>
          <a:p>
            <a:pPr marL="899435" lvl="2" indent="-305435"/>
            <a:endParaRPr lang="en-US" sz="2400" dirty="0"/>
          </a:p>
          <a:p>
            <a:pPr marL="629435" lvl="1" indent="-305435"/>
            <a:r>
              <a:rPr lang="en-US" sz="2500" b="1" dirty="0"/>
              <a:t>Data Preprocessing</a:t>
            </a:r>
          </a:p>
          <a:p>
            <a:pPr marL="899435" lvl="2" indent="-305435"/>
            <a:r>
              <a:rPr lang="en-US" sz="2400" dirty="0"/>
              <a:t>Handles missing values (mean/mode), encodes categorical features, removes outliers (optional), and standardizes features.</a:t>
            </a:r>
          </a:p>
          <a:p>
            <a:pPr marL="0" indent="0">
              <a:buNone/>
            </a:pPr>
            <a:endParaRPr lang="en-US" sz="2800" b="1" dirty="0"/>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F8FEE-F4DB-F181-E3A9-D2C23037712C}"/>
              </a:ext>
            </a:extLst>
          </p:cNvPr>
          <p:cNvSpPr txBox="1"/>
          <p:nvPr/>
        </p:nvSpPr>
        <p:spPr>
          <a:xfrm>
            <a:off x="177800" y="650241"/>
            <a:ext cx="11617960" cy="5730800"/>
          </a:xfrm>
          <a:prstGeom prst="rect">
            <a:avLst/>
          </a:prstGeom>
          <a:noFill/>
        </p:spPr>
        <p:txBody>
          <a:bodyPr wrap="square" rtlCol="0">
            <a:spAutoFit/>
          </a:bodyPr>
          <a:lstStyle/>
          <a:p>
            <a:pPr marL="629435" lvl="1"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b="1" dirty="0">
                <a:solidFill>
                  <a:schemeClr val="tx1">
                    <a:lumMod val="75000"/>
                    <a:lumOff val="25000"/>
                  </a:schemeClr>
                </a:solidFill>
              </a:rPr>
              <a:t>Target Selection</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User selects the target column (e.g., Salary) to predict from a dropdown menu.</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endParaRPr lang="en-US" sz="1900" dirty="0">
              <a:solidFill>
                <a:schemeClr val="tx1">
                  <a:lumMod val="75000"/>
                  <a:lumOff val="25000"/>
                </a:schemeClr>
              </a:solidFill>
            </a:endParaRPr>
          </a:p>
          <a:p>
            <a:pPr marL="629435" lvl="1"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b="1" dirty="0">
                <a:solidFill>
                  <a:schemeClr val="tx1">
                    <a:lumMod val="75000"/>
                    <a:lumOff val="25000"/>
                  </a:schemeClr>
                </a:solidFill>
              </a:rPr>
              <a:t>Model Selection &amp; Training</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User selects one or more models like Linear Regression, KNN, or Neural Network.</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Models are trained using </a:t>
            </a:r>
            <a:r>
              <a:rPr lang="en-US" sz="1900" dirty="0" err="1">
                <a:solidFill>
                  <a:schemeClr val="tx1">
                    <a:lumMod val="75000"/>
                    <a:lumOff val="25000"/>
                  </a:schemeClr>
                </a:solidFill>
              </a:rPr>
              <a:t>train_test_split</a:t>
            </a:r>
            <a:r>
              <a:rPr lang="en-US" sz="1900" dirty="0">
                <a:solidFill>
                  <a:schemeClr val="tx1">
                    <a:lumMod val="75000"/>
                    <a:lumOff val="25000"/>
                  </a:schemeClr>
                </a:solidFill>
              </a:rPr>
              <a:t> and evaluated using cross-validation (</a:t>
            </a:r>
            <a:r>
              <a:rPr lang="en-US" sz="1900" dirty="0" err="1">
                <a:solidFill>
                  <a:schemeClr val="tx1">
                    <a:lumMod val="75000"/>
                    <a:lumOff val="25000"/>
                  </a:schemeClr>
                </a:solidFill>
              </a:rPr>
              <a:t>cross_val_score</a:t>
            </a:r>
            <a:r>
              <a:rPr lang="en-US" sz="1900" dirty="0">
                <a:solidFill>
                  <a:schemeClr val="tx1">
                    <a:lumMod val="75000"/>
                    <a:lumOff val="25000"/>
                  </a:schemeClr>
                </a:solidFill>
              </a:rPr>
              <a:t>).</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endParaRPr lang="en-US" sz="1900" dirty="0">
              <a:solidFill>
                <a:schemeClr val="tx1">
                  <a:lumMod val="75000"/>
                  <a:lumOff val="25000"/>
                </a:schemeClr>
              </a:solidFill>
            </a:endParaRPr>
          </a:p>
          <a:p>
            <a:pPr marL="629435" lvl="1"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b="1" dirty="0">
                <a:solidFill>
                  <a:schemeClr val="tx1">
                    <a:lumMod val="75000"/>
                    <a:lumOff val="25000"/>
                  </a:schemeClr>
                </a:solidFill>
              </a:rPr>
              <a:t>Accuracy Visualization</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Model accuracies are compared visually using a bar chart.</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endParaRPr lang="en-US" sz="1900" dirty="0">
              <a:solidFill>
                <a:schemeClr val="tx1">
                  <a:lumMod val="75000"/>
                  <a:lumOff val="25000"/>
                </a:schemeClr>
              </a:solidFill>
            </a:endParaRPr>
          </a:p>
          <a:p>
            <a:pPr marL="629435" lvl="1"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b="1" dirty="0">
                <a:solidFill>
                  <a:schemeClr val="tx1">
                    <a:lumMod val="75000"/>
                    <a:lumOff val="25000"/>
                  </a:schemeClr>
                </a:solidFill>
              </a:rPr>
              <a:t>Salary Prediction</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User inputs feature values; the app predicts salary using all trained models and displays results with accuracy.</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endParaRPr lang="en-US" sz="1900" dirty="0">
              <a:solidFill>
                <a:schemeClr val="tx1">
                  <a:lumMod val="75000"/>
                  <a:lumOff val="25000"/>
                </a:schemeClr>
              </a:solidFill>
            </a:endParaRPr>
          </a:p>
          <a:p>
            <a:pPr marL="629435" lvl="1"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b="1" dirty="0">
                <a:solidFill>
                  <a:schemeClr val="tx1">
                    <a:lumMod val="75000"/>
                    <a:lumOff val="25000"/>
                  </a:schemeClr>
                </a:solidFill>
              </a:rPr>
              <a:t>Export options</a:t>
            </a:r>
          </a:p>
          <a:p>
            <a:pPr marL="899435" lvl="2" indent="-305435" defTabSz="457200">
              <a:lnSpc>
                <a:spcPct val="80000"/>
              </a:lnSpc>
              <a:spcBef>
                <a:spcPct val="20000"/>
              </a:spcBef>
              <a:spcAft>
                <a:spcPts val="600"/>
              </a:spcAft>
              <a:buClr>
                <a:schemeClr val="accent1"/>
              </a:buClr>
              <a:buSzPct val="92000"/>
              <a:buFont typeface="Wingdings 2" panose="05020102010507070707" pitchFamily="18" charset="2"/>
              <a:buChar char=""/>
            </a:pPr>
            <a:r>
              <a:rPr lang="en-US" sz="1900" dirty="0">
                <a:solidFill>
                  <a:schemeClr val="tx1">
                    <a:lumMod val="75000"/>
                    <a:lumOff val="25000"/>
                  </a:schemeClr>
                </a:solidFill>
              </a:rPr>
              <a:t>User can export both processed data and prediction results as CSV files.</a:t>
            </a:r>
          </a:p>
        </p:txBody>
      </p:sp>
    </p:spTree>
    <p:extLst>
      <p:ext uri="{BB962C8B-B14F-4D97-AF65-F5344CB8AC3E}">
        <p14:creationId xmlns:p14="http://schemas.microsoft.com/office/powerpoint/2010/main" val="3072322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8" name="TextBox 7">
            <a:extLst>
              <a:ext uri="{FF2B5EF4-FFF2-40B4-BE49-F238E27FC236}">
                <a16:creationId xmlns:a16="http://schemas.microsoft.com/office/drawing/2014/main" id="{50DE5332-E43C-A681-9A57-ECF4B05CCE24}"/>
              </a:ext>
            </a:extLst>
          </p:cNvPr>
          <p:cNvSpPr txBox="1"/>
          <p:nvPr/>
        </p:nvSpPr>
        <p:spPr>
          <a:xfrm>
            <a:off x="690880" y="570711"/>
            <a:ext cx="11029616" cy="5909310"/>
          </a:xfrm>
          <a:prstGeom prst="rect">
            <a:avLst/>
          </a:prstGeom>
          <a:noFill/>
        </p:spPr>
        <p:txBody>
          <a:bodyPr wrap="square" rtlCol="0">
            <a:spAutoFit/>
          </a:bodyPr>
          <a:lstStyle/>
          <a:p>
            <a:endParaRPr lang="en-US" dirty="0"/>
          </a:p>
          <a:p>
            <a:pPr marL="305435" indent="-305435"/>
            <a:endParaRPr lang="en-US" b="1" dirty="0"/>
          </a:p>
          <a:p>
            <a:pPr marL="305435" indent="-305435"/>
            <a:r>
              <a:rPr lang="en-US" b="1" dirty="0"/>
              <a:t>Application’s UI:</a:t>
            </a:r>
          </a:p>
          <a:p>
            <a:pPr marL="305435" indent="-305435"/>
            <a:endParaRPr lang="en-US" b="1" dirty="0"/>
          </a:p>
          <a:p>
            <a:pPr marL="305435" indent="-305435"/>
            <a:endParaRPr lang="en-US"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pPr marL="305435" indent="-305435"/>
            <a:endParaRPr lang="en-US" b="1" dirty="0"/>
          </a:p>
          <a:p>
            <a:r>
              <a:rPr lang="en-US" b="1" dirty="0" err="1"/>
              <a:t>Github</a:t>
            </a:r>
            <a:r>
              <a:rPr lang="en-US" b="1" dirty="0"/>
              <a:t>:</a:t>
            </a:r>
          </a:p>
          <a:p>
            <a:pPr marL="305435" indent="-305435"/>
            <a:r>
              <a:rPr lang="en-US" dirty="0">
                <a:ea typeface="+mn-lt"/>
                <a:cs typeface="+mn-lt"/>
              </a:rPr>
              <a:t>https://github.com/ManishJaagu/SalarySensei_EmployeeSalaryPredictor_EdunetAIMLProject.git</a:t>
            </a:r>
            <a:endParaRPr lang="en-IN" dirty="0"/>
          </a:p>
        </p:txBody>
      </p:sp>
      <p:pic>
        <p:nvPicPr>
          <p:cNvPr id="4" name="Picture 3">
            <a:extLst>
              <a:ext uri="{FF2B5EF4-FFF2-40B4-BE49-F238E27FC236}">
                <a16:creationId xmlns:a16="http://schemas.microsoft.com/office/drawing/2014/main" id="{D916262E-F108-7AA2-EA33-5FEE2821570A}"/>
              </a:ext>
            </a:extLst>
          </p:cNvPr>
          <p:cNvPicPr>
            <a:picLocks noChangeAspect="1"/>
          </p:cNvPicPr>
          <p:nvPr/>
        </p:nvPicPr>
        <p:blipFill>
          <a:blip r:embed="rId2"/>
          <a:stretch>
            <a:fillRect/>
          </a:stretch>
        </p:blipFill>
        <p:spPr>
          <a:xfrm>
            <a:off x="1873483" y="1477859"/>
            <a:ext cx="8445033" cy="4466758"/>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950581-0660-9B03-0956-B58ABF2B04C9}"/>
              </a:ext>
            </a:extLst>
          </p:cNvPr>
          <p:cNvPicPr>
            <a:picLocks noChangeAspect="1"/>
          </p:cNvPicPr>
          <p:nvPr/>
        </p:nvPicPr>
        <p:blipFill>
          <a:blip r:embed="rId2"/>
          <a:stretch>
            <a:fillRect/>
          </a:stretch>
        </p:blipFill>
        <p:spPr>
          <a:xfrm>
            <a:off x="924560" y="835081"/>
            <a:ext cx="10342880" cy="5475959"/>
          </a:xfrm>
          <a:prstGeom prst="rect">
            <a:avLst/>
          </a:prstGeom>
        </p:spPr>
      </p:pic>
    </p:spTree>
    <p:extLst>
      <p:ext uri="{BB962C8B-B14F-4D97-AF65-F5344CB8AC3E}">
        <p14:creationId xmlns:p14="http://schemas.microsoft.com/office/powerpoint/2010/main" val="2241217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fontScale="92500" lnSpcReduction="20000"/>
          </a:bodyPr>
          <a:lstStyle/>
          <a:p>
            <a:pPr marL="305435" indent="-305435"/>
            <a:r>
              <a:rPr lang="en-US" sz="2800" dirty="0">
                <a:solidFill>
                  <a:srgbClr val="0F0F0F"/>
                </a:solidFill>
                <a:ea typeface="+mn-lt"/>
                <a:cs typeface="+mn-lt"/>
              </a:rPr>
              <a:t>It was an educational and rewarding experience to create the Employee Salary Predictor. The project successfully combines machine learning processes with a quick, easy-to-use interface, thereby making salary prediction accessible to the masses, including those who do not have technical expertise.</a:t>
            </a:r>
          </a:p>
          <a:p>
            <a:pPr marL="305435" indent="-305435"/>
            <a:endParaRPr lang="en-US" sz="2800" dirty="0">
              <a:solidFill>
                <a:srgbClr val="0F0F0F"/>
              </a:solidFill>
              <a:ea typeface="+mn-lt"/>
              <a:cs typeface="+mn-lt"/>
            </a:endParaRPr>
          </a:p>
          <a:p>
            <a:pPr marL="305435" indent="-305435"/>
            <a:r>
              <a:rPr lang="en-US" sz="2800" dirty="0">
                <a:solidFill>
                  <a:srgbClr val="0F0F0F"/>
                </a:solidFill>
                <a:ea typeface="+mn-lt"/>
                <a:cs typeface="+mn-lt"/>
              </a:rPr>
              <a:t>It enables users to import their own data, train multiple ML models, and visually compare them, the app enables them to select which models are best for their own use case. Outlier removal, input customization, and exporting predictions add features that make it more than just a simple tech demo, but rather an actual functional tool.</a:t>
            </a:r>
            <a:endParaRPr lang="en-IN" sz="2800" dirty="0"/>
          </a:p>
        </p:txBody>
      </p:sp>
    </p:spTree>
    <p:extLst>
      <p:ext uri="{BB962C8B-B14F-4D97-AF65-F5344CB8AC3E}">
        <p14:creationId xmlns:p14="http://schemas.microsoft.com/office/powerpoint/2010/main" val="318331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35671" y="1340016"/>
            <a:ext cx="11029615" cy="5192863"/>
          </a:xfrm>
        </p:spPr>
        <p:txBody>
          <a:bodyPr>
            <a:normAutofit/>
          </a:bodyPr>
          <a:lstStyle/>
          <a:p>
            <a:r>
              <a:rPr lang="en-US" sz="2000" dirty="0"/>
              <a:t>The Employee Salary Predictor has laid a strong foundation, but there’s plenty of room to grow. Here are a few ways it can be enhanced:</a:t>
            </a:r>
          </a:p>
          <a:p>
            <a:pPr lvl="1"/>
            <a:r>
              <a:rPr lang="en-US" sz="1700" b="1" dirty="0"/>
              <a:t>More Model Options</a:t>
            </a:r>
            <a:r>
              <a:rPr lang="en-US" sz="1700" dirty="0"/>
              <a:t>: Adding advanced algorithms like </a:t>
            </a:r>
            <a:r>
              <a:rPr lang="en-US" sz="1700" dirty="0" err="1"/>
              <a:t>XGBoost</a:t>
            </a:r>
            <a:r>
              <a:rPr lang="en-US" sz="1700" dirty="0"/>
              <a:t> or </a:t>
            </a:r>
            <a:r>
              <a:rPr lang="en-US" sz="1700" dirty="0" err="1"/>
              <a:t>LightGBM</a:t>
            </a:r>
            <a:r>
              <a:rPr lang="en-US" sz="1700" dirty="0"/>
              <a:t> can boost accuracy.</a:t>
            </a:r>
          </a:p>
          <a:p>
            <a:pPr lvl="1"/>
            <a:r>
              <a:rPr lang="en-US" sz="1700" b="1" dirty="0"/>
              <a:t>Better Insights</a:t>
            </a:r>
            <a:r>
              <a:rPr lang="en-US" sz="1700" dirty="0"/>
              <a:t>: Showing feature importance, detailed metrics (like RMSE, R²), and interactive charts would make results more meaningful.</a:t>
            </a:r>
          </a:p>
          <a:p>
            <a:pPr lvl="1"/>
            <a:r>
              <a:rPr lang="en-US" sz="1700" b="1" dirty="0"/>
              <a:t>Smart Inputs</a:t>
            </a:r>
            <a:r>
              <a:rPr lang="en-US" sz="1700" dirty="0"/>
              <a:t>: Auto-suggestions and real-time input validation could improve usability.</a:t>
            </a:r>
          </a:p>
          <a:p>
            <a:pPr lvl="1"/>
            <a:r>
              <a:rPr lang="en-US" sz="1700" b="1" dirty="0"/>
              <a:t>Save &amp; Reuse</a:t>
            </a:r>
            <a:r>
              <a:rPr lang="en-US" sz="1700" dirty="0"/>
              <a:t>: Letting users save trained models and compare predictions across datasets would add great flexibility.</a:t>
            </a:r>
          </a:p>
          <a:p>
            <a:pPr lvl="1"/>
            <a:r>
              <a:rPr lang="en-US" sz="1700" b="1" dirty="0"/>
              <a:t>Web Version</a:t>
            </a:r>
            <a:r>
              <a:rPr lang="en-US" sz="1700" dirty="0"/>
              <a:t>: Bringing the app online using Flask or Django would make it accessible from anywhere.</a:t>
            </a:r>
          </a:p>
          <a:p>
            <a:pPr lvl="1"/>
            <a:r>
              <a:rPr lang="en-US" sz="1700" b="1" dirty="0"/>
              <a:t>Real-World Data</a:t>
            </a:r>
            <a:r>
              <a:rPr lang="en-US" sz="1700" dirty="0"/>
              <a:t>: Integrating salary trends from platforms like LinkedIn or Glassdoor could make predictions more realistic.</a:t>
            </a:r>
          </a:p>
          <a:p>
            <a:pPr lvl="1"/>
            <a:r>
              <a:rPr lang="en-US" sz="1700" dirty="0"/>
              <a:t>With these upgrades, the app could evolve into a powerful tool for HR teams, job seekers, and analysts alike—offering not just predictions, but valuable guidance.</a:t>
            </a:r>
          </a:p>
          <a:p>
            <a:pPr marL="0" indent="0">
              <a:buNone/>
            </a:pPr>
            <a:endParaRPr lang="en-US" sz="2000" b="1"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endParaRPr lang="en-US" sz="4400" b="1" dirty="0">
              <a:solidFill>
                <a:schemeClr val="accent1"/>
              </a:solidFill>
              <a:latin typeface="Arial"/>
              <a:cs typeface="Arial"/>
            </a:endParaRP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186</TotalTime>
  <Words>715</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Franklin Gothic Book</vt:lpstr>
      <vt:lpstr>Franklin Gothic Demi</vt:lpstr>
      <vt:lpstr>Wingdings 2</vt:lpstr>
      <vt:lpstr>DividendVTI</vt:lpstr>
      <vt:lpstr>EMPLOYEE SALARY PREDICTION USING MACHINE LEARNING ALGORITHMS</vt:lpstr>
      <vt:lpstr>OUTLINE</vt:lpstr>
      <vt:lpstr>Problem Statement</vt:lpstr>
      <vt:lpstr>System  Approach</vt:lpstr>
      <vt:lpstr>Algorithm &amp; Deployment</vt:lpstr>
      <vt:lpstr>PowerPoint Presentation</vt:lpstr>
      <vt:lpstr>Result</vt:lpstr>
      <vt:lpstr>PowerPoint Presentation</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Manish Jagu</cp:lastModifiedBy>
  <cp:revision>46</cp:revision>
  <dcterms:created xsi:type="dcterms:W3CDTF">2021-05-26T16:50:10Z</dcterms:created>
  <dcterms:modified xsi:type="dcterms:W3CDTF">2025-07-22T08:25:21Z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